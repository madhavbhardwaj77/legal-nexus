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TECH STACK &amp;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t>● LAYER                                    PRODUCTION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Frontend &amp;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19656"/>
            <a:ext cx="2834640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4F46E5"/>
                </a:solidFill>
                <a:latin typeface="Arial"/>
              </a:defRPr>
            </a:pPr>
            <a:r>
              <a:t>React 18 • Tailwind CSS •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App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95144"/>
            <a:ext cx="2834640" cy="29260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Node.js • Express • RBAC •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AI Microservice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770632"/>
            <a:ext cx="2834640" cy="292608"/>
          </a:xfrm>
          <a:prstGeom prst="round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891B2"/>
                </a:solidFill>
                <a:latin typeface="Arial"/>
              </a:defRPr>
            </a:pPr>
            <a:r>
              <a:t>Python 3.11 • FastAPI • Uvicorn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954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Agent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246120"/>
            <a:ext cx="2834640" cy="292608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9333EA"/>
                </a:solidFill>
                <a:latin typeface="Arial"/>
              </a:defRPr>
            </a:pPr>
            <a:r>
              <a:t>LangGraph • 11 Specialized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85031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Guardrail &amp; Trust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721607"/>
            <a:ext cx="2834640" cy="292608"/>
          </a:xfrm>
          <a:prstGeom prst="roundRect">
            <a:avLst/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CA8A04"/>
                </a:solidFill>
                <a:latin typeface="Arial"/>
              </a:defRPr>
            </a:pPr>
            <a:r>
              <a:t>8-Tier Active Security Perimeter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19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Hybrid Legal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4197095"/>
            <a:ext cx="28346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Dense Vectors + BM25 + Reranker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36007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DB &amp; Caching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672583"/>
            <a:ext cx="2834640" cy="29260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11D48"/>
                </a:solidFill>
                <a:latin typeface="Arial"/>
              </a:defRPr>
            </a:pPr>
            <a:r>
              <a:t>MongoDB 7.0 • Redis 7.2 Queues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11495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Doc AI &amp; Voice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5148071"/>
            <a:ext cx="283464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D9488"/>
                </a:solidFill>
                <a:latin typeface="Arial"/>
              </a:defRPr>
            </a:pPr>
            <a:r>
              <a:t>Clause NLP • Whisper STT • jsPDF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86983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5623559"/>
            <a:ext cx="2834640" cy="29260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475569"/>
                </a:solidFill>
                <a:latin typeface="Arial"/>
              </a:defRPr>
            </a:pPr>
            <a:r>
              <a:t>Docker Compose • 5 Isolated Services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2344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t>● SYSTEM ARCHITECTURE &amp; DATA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691640"/>
            <a:ext cx="484632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1. Client Layer: React 18 + Tailwind Responsive App (Port 5173)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Citizen Story Intake • Lawyer Workspace • Live Trust Badge UX • Voice Widget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8600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↓ REST API / HTTPS + JWT Authentication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514600"/>
            <a:ext cx="484632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65F46"/>
                </a:solidFill>
              </a:defRPr>
            </a:pPr>
            <a:r>
              <a:t>2. Gateway Layer: Node.js + Express REST Core (Port 5001)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Granular RBAC • Tenant Isolation • Redis Task Queue • Central Audit Logger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0896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↓ Internal Microservice Proxy (FastAPI Router)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337560"/>
            <a:ext cx="4846320" cy="15544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3832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2E8F0"/>
                </a:solidFill>
              </a:defRPr>
            </a:pPr>
            <a:r>
              <a:t>3. AI Core: Python FastAPI + LangGraph Multi-Agent Engine (Port 8001)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703320"/>
            <a:ext cx="14173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1F5F9"/>
                </a:solidFill>
              </a:defRPr>
            </a:pPr>
            <a:r>
              <a:t>🗣️ Intake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6531" y="3703320"/>
            <a:ext cx="146304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1F5F9"/>
                </a:solidFill>
              </a:defRPr>
            </a:pPr>
            <a:r>
              <a:t>⚖️ Research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1012" y="3703320"/>
            <a:ext cx="14173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1F5F9"/>
                </a:solidFill>
              </a:defRPr>
            </a:pPr>
            <a:r>
              <a:t>📄 Doc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069080"/>
            <a:ext cx="14173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1F5F9"/>
                </a:solidFill>
              </a:defRPr>
            </a:pPr>
            <a:r>
              <a:t>🚨 Risk 1930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6531" y="4069080"/>
            <a:ext cx="146304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1F5F9"/>
                </a:solidFill>
              </a:defRPr>
            </a:pPr>
            <a:r>
              <a:t>✍️ Drafting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11012" y="4069080"/>
            <a:ext cx="14173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1F5F9"/>
                </a:solidFill>
              </a:defRPr>
            </a:pPr>
            <a:r>
              <a:t>✅ Verifier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462272"/>
            <a:ext cx="4572000" cy="320040"/>
          </a:xfrm>
          <a:prstGeom prst="roundRect">
            <a:avLst/>
          </a:prstGeom>
          <a:solidFill>
            <a:srgbClr val="451A03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EF08A"/>
                </a:solidFill>
              </a:defRPr>
            </a:pPr>
            <a:r>
              <a:t>🛡️ Active Guardrail Perimeter: PII Redaction • Prompt Shield • 1930 Routing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9204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↓ Hybrid Retrieval (Dense Vectors + BM25 Lexical + Cross-Encoder)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120640"/>
            <a:ext cx="4846320" cy="594360"/>
          </a:xfrm>
          <a:prstGeom prst="roundRect">
            <a:avLst/>
          </a:prstGeom>
          <a:solidFill>
            <a:srgbClr val="FEFCE8"/>
          </a:solidFill>
          <a:ln w="1524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854D0E"/>
                </a:solidFill>
              </a:defRPr>
            </a:pPr>
            <a:r>
              <a:t>4. Grounding Base: Tier-1 Official Gazette &amp; Statutory Rolls</a:t>
            </a:r>
          </a:p>
          <a:p>
            <a:pPr>
              <a:defRPr sz="850">
                <a:solidFill>
                  <a:srgbClr val="A16207"/>
                </a:solidFill>
              </a:defRPr>
            </a:pPr>
            <a:r>
              <a:t>India Code • e-Gazette Notifications • eCourts Records • NALSA Legal Aid Portal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BUILD WITH भारत 2.0                                             TEAM CODING CHAMPS • BHARATI VIDYAPEETH'S COLLEGE OF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