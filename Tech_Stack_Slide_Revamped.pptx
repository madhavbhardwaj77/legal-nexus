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926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TECH STACK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40680" cy="5166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  <a:latin typeface="Segoe UI"/>
              </a:defRPr>
            </a:pPr>
            <a:r>
              <a:t>● LAYER                                         PRODUCTION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Frontend &amp;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64208"/>
            <a:ext cx="288036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4338CA"/>
                </a:solidFill>
                <a:latin typeface="Segoe UI"/>
              </a:defRPr>
            </a:pPr>
            <a:r>
              <a:t>React 18 • Tailwind CSS •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App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167128"/>
            <a:ext cx="2880360" cy="3657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47857"/>
                </a:solidFill>
                <a:latin typeface="Segoe UI"/>
              </a:defRPr>
            </a:pPr>
            <a:r>
              <a:t>Node.js • Express • RBAC •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AI Microservice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70048"/>
            <a:ext cx="2880360" cy="365760"/>
          </a:xfrm>
          <a:prstGeom prst="round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E7490"/>
                </a:solidFill>
                <a:latin typeface="Segoe UI"/>
              </a:defRPr>
            </a:pPr>
            <a:r>
              <a:t>Python 3.11 • FastAPI •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Agent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172968"/>
            <a:ext cx="2880360" cy="36576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7E22CE"/>
                </a:solidFill>
                <a:latin typeface="Segoe UI"/>
              </a:defRPr>
            </a:pPr>
            <a:r>
              <a:t>LangGraph • 11 Specialized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Guardrail &amp; Trust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675887"/>
            <a:ext cx="2880360" cy="365760"/>
          </a:xfrm>
          <a:prstGeom prst="roundRect">
            <a:avLst/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A16207"/>
                </a:solidFill>
                <a:latin typeface="Segoe UI"/>
              </a:defRPr>
            </a:pPr>
            <a:r>
              <a:t>8-Tier Active Security Perimeter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Hybrid Legal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178807"/>
            <a:ext cx="288036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Dense Vectors + BM25 + Reranker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DB &amp; Caching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681727"/>
            <a:ext cx="2880360" cy="36576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BE123C"/>
                </a:solidFill>
                <a:latin typeface="Segoe UI"/>
              </a:defRPr>
            </a:pPr>
            <a:r>
              <a:t>MongoDB 7.0 • Redis 7.2 Queues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6635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Doc AI &amp; 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184647"/>
            <a:ext cx="2880360" cy="3657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0F766E"/>
                </a:solidFill>
                <a:latin typeface="Segoe UI"/>
              </a:defRPr>
            </a:pPr>
            <a:r>
              <a:t>Clause NLP • Whisper STT • jsPDF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69279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5687567"/>
            <a:ext cx="2880360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334155"/>
                </a:solidFill>
                <a:latin typeface="Segoe UI"/>
              </a:defRPr>
            </a:pPr>
            <a:r>
              <a:t>Docker Compose • 5 Isolated 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097280"/>
            <a:ext cx="5440680" cy="5166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  <a:latin typeface="Segoe UI"/>
              </a:defRPr>
            </a:pPr>
            <a:r>
              <a:t>● SYSTEM ARCHITECTURE &amp; DATA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572768"/>
            <a:ext cx="5074920" cy="6858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4A6E"/>
                </a:solidFill>
              </a:defRPr>
            </a:pPr>
            <a:r>
              <a:t>1. React 18 + Tailwind Client Portal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Citizen Intake UI • Lawyer Workspace • Live Trust Badges • Voice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67712"/>
            <a:ext cx="5074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↓ REST API / HTTPS + JWT Authentication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487168"/>
            <a:ext cx="5074920" cy="685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2. Node.js + Express Application Gateway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Granular RBAC • Tenant Case Isolation • Redis Task Queues • Audit Logger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82112"/>
            <a:ext cx="5074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↓ Microservice Proxy (FastAPI Core)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401568"/>
            <a:ext cx="5074920" cy="16459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47288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1C87"/>
                </a:solidFill>
              </a:defRPr>
            </a:pPr>
            <a:r>
              <a:t>3. Python FastAPI + LangGraph Multi-Agent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785615"/>
            <a:ext cx="758952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Intake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1775" y="3785615"/>
            <a:ext cx="786384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Research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3785615"/>
            <a:ext cx="758952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Doc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785615"/>
            <a:ext cx="804672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Risk 1930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66376" y="3785615"/>
            <a:ext cx="758952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Drafting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80192" y="3785615"/>
            <a:ext cx="758952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Verifier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169663"/>
            <a:ext cx="4800600" cy="658368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16207"/>
                </a:solidFill>
              </a:defRPr>
            </a:pPr>
            <a:r>
              <a:t>🛡️ Active Guardrail Perimeter (Zero-Trust AI Safety Layer)</a:t>
            </a:r>
          </a:p>
          <a:p>
            <a:pPr>
              <a:defRPr sz="950">
                <a:solidFill>
                  <a:srgbClr val="854D0E"/>
                </a:solidFill>
              </a:defRPr>
            </a:pPr>
            <a:r>
              <a:t>PII Redaction (Aadhaar/PAN) • Prompt Shield • 1930 Emergency Helpline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56632"/>
            <a:ext cx="5074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↓ Dense Vectors + BM25 Hybrid Retrieval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266944"/>
            <a:ext cx="5074920" cy="6858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8350F"/>
                </a:solidFill>
              </a:defRPr>
            </a:pPr>
            <a:r>
              <a:t>4. Tier-1 Statutory Knowledge Base &amp; Gazette Roll</a:t>
            </a:r>
          </a:p>
          <a:p>
            <a:pPr>
              <a:defRPr sz="1000">
                <a:solidFill>
                  <a:srgbClr val="92400E"/>
                </a:solidFill>
              </a:defRPr>
            </a:pPr>
            <a:r>
              <a:t>India Code • Gazette Notifications • eCourts Records • NALSA Legal Aid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345936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BUILD WITH भारत 2.0  •  NATIONAL LEVEL HACKATHON                  TEAM CODING CHAMPS • BHARATI VIDYAPEETH'S COE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